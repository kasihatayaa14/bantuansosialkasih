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91" r:id="rId2"/>
    <p:sldId id="293" r:id="rId3"/>
    <p:sldId id="298" r:id="rId4"/>
    <p:sldId id="297" r:id="rId5"/>
    <p:sldId id="266" r:id="rId6"/>
    <p:sldId id="268" r:id="rId7"/>
    <p:sldId id="300" r:id="rId8"/>
    <p:sldId id="299" r:id="rId9"/>
    <p:sldId id="301" r:id="rId10"/>
    <p:sldId id="296" r:id="rId11"/>
    <p:sldId id="295" r:id="rId12"/>
    <p:sldId id="281" r:id="rId13"/>
    <p:sldId id="276" r:id="rId14"/>
    <p:sldId id="257" r:id="rId15"/>
    <p:sldId id="274" r:id="rId16"/>
    <p:sldId id="282" r:id="rId17"/>
    <p:sldId id="302" r:id="rId18"/>
    <p:sldId id="326" r:id="rId19"/>
    <p:sldId id="304" r:id="rId20"/>
    <p:sldId id="303" r:id="rId21"/>
    <p:sldId id="325" r:id="rId22"/>
    <p:sldId id="308" r:id="rId23"/>
    <p:sldId id="323" r:id="rId24"/>
    <p:sldId id="309" r:id="rId25"/>
    <p:sldId id="306" r:id="rId26"/>
    <p:sldId id="310" r:id="rId27"/>
    <p:sldId id="311" r:id="rId28"/>
    <p:sldId id="312" r:id="rId29"/>
    <p:sldId id="317" r:id="rId30"/>
    <p:sldId id="313" r:id="rId31"/>
    <p:sldId id="318" r:id="rId32"/>
    <p:sldId id="314" r:id="rId33"/>
    <p:sldId id="305" r:id="rId34"/>
    <p:sldId id="324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675" autoAdjust="0"/>
    <p:restoredTop sz="94660"/>
  </p:normalViewPr>
  <p:slideViewPr>
    <p:cSldViewPr snapToGrid="0">
      <p:cViewPr varScale="1">
        <p:scale>
          <a:sx n="74" d="100"/>
          <a:sy n="74" d="100"/>
        </p:scale>
        <p:origin x="8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2F90B-046F-4116-84A3-BB2743CCB072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BC378-303B-499A-9677-5B171CD46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557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2F90B-046F-4116-84A3-BB2743CCB072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BC378-303B-499A-9677-5B171CD46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296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2F90B-046F-4116-84A3-BB2743CCB072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BC378-303B-499A-9677-5B171CD46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925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2F90B-046F-4116-84A3-BB2743CCB072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BC378-303B-499A-9677-5B171CD46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685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2F90B-046F-4116-84A3-BB2743CCB072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BC378-303B-499A-9677-5B171CD46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779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2F90B-046F-4116-84A3-BB2743CCB072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BC378-303B-499A-9677-5B171CD46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541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2F90B-046F-4116-84A3-BB2743CCB072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BC378-303B-499A-9677-5B171CD46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997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2F90B-046F-4116-84A3-BB2743CCB072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BC378-303B-499A-9677-5B171CD46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625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2F90B-046F-4116-84A3-BB2743CCB072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BC378-303B-499A-9677-5B171CD46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802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2F90B-046F-4116-84A3-BB2743CCB072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BC378-303B-499A-9677-5B171CD46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105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2F90B-046F-4116-84A3-BB2743CCB072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BC378-303B-499A-9677-5B171CD46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836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72F90B-046F-4116-84A3-BB2743CCB072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9BC378-303B-499A-9677-5B171CD46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49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design/8YFDYMrGRzPrxVFVYTaGI6/Prototyping-in-Figma?node-id=0-1&amp;p=f&amp;t=qInI0brsGvnm1Ve7-0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1CEE514-9653-5D03-8A51-DC5F38D6C7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1.png">
            <a:extLst>
              <a:ext uri="{FF2B5EF4-FFF2-40B4-BE49-F238E27FC236}">
                <a16:creationId xmlns:a16="http://schemas.microsoft.com/office/drawing/2014/main" id="{C31B3703-4A09-11B2-BBCB-E95C4D33DF2C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54037" y="4263936"/>
            <a:ext cx="2372043" cy="237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542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B606DC-10E1-04B6-7235-342A2BDC8A19}"/>
              </a:ext>
            </a:extLst>
          </p:cNvPr>
          <p:cNvSpPr txBox="1"/>
          <p:nvPr/>
        </p:nvSpPr>
        <p:spPr>
          <a:xfrm>
            <a:off x="2476693" y="1679412"/>
            <a:ext cx="69804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500"/>
              </a:spcBef>
              <a:spcAft>
                <a:spcPts val="750"/>
              </a:spcAft>
            </a:pPr>
            <a:r>
              <a:rPr lang="en-US" sz="7200" b="1" i="0" dirty="0">
                <a:effectLst/>
                <a:latin typeface="Arial Rounded MT Bold" panose="020F0704030504030204" pitchFamily="34" charset="0"/>
              </a:rPr>
              <a:t>BAGIAN 1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17319C8-1677-F5DE-A42B-A779628D1E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4887" y="3541222"/>
            <a:ext cx="7265324" cy="2294918"/>
          </a:xfrm>
        </p:spPr>
        <p:txBody>
          <a:bodyPr/>
          <a:lstStyle/>
          <a:p>
            <a:r>
              <a:rPr lang="en-US"/>
              <a:t>Informasi Tempat PKL</a:t>
            </a:r>
          </a:p>
          <a:p>
            <a:r>
              <a:rPr lang="en-US"/>
              <a:t>Kegiatan Selama Di Tempat PKL</a:t>
            </a:r>
          </a:p>
          <a:p>
            <a:r>
              <a:rPr lang="en-US"/>
              <a:t>Kendala Selama PKL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227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9724047-3D8C-A239-3D77-56B82D2FB99D}"/>
              </a:ext>
            </a:extLst>
          </p:cNvPr>
          <p:cNvSpPr txBox="1">
            <a:spLocks/>
          </p:cNvSpPr>
          <p:nvPr/>
        </p:nvSpPr>
        <p:spPr>
          <a:xfrm>
            <a:off x="504092" y="674987"/>
            <a:ext cx="11183816" cy="610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Bagian 1-&gt;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Informasi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Tempat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PKL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30B49E6-5495-A414-8E05-08B935A73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92" y="1525487"/>
            <a:ext cx="3563416" cy="2227526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8C124CD-D0C8-828D-46EA-98D6C2A8E4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8917" y="1525487"/>
            <a:ext cx="6741459" cy="1397007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dirty="0"/>
              <a:t>Waktu</a:t>
            </a:r>
          </a:p>
          <a:p>
            <a:pPr marL="287338" indent="0">
              <a:spcBef>
                <a:spcPts val="0"/>
              </a:spcBef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19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Agustus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- 14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Desember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2024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4467B16-C434-63C6-C6B9-723B53F670BC}"/>
              </a:ext>
            </a:extLst>
          </p:cNvPr>
          <p:cNvSpPr txBox="1">
            <a:spLocks/>
          </p:cNvSpPr>
          <p:nvPr/>
        </p:nvSpPr>
        <p:spPr>
          <a:xfrm>
            <a:off x="4338917" y="3162380"/>
            <a:ext cx="6741459" cy="139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dirty="0" err="1"/>
              <a:t>Tempat</a:t>
            </a:r>
            <a:endParaRPr lang="en-US" dirty="0"/>
          </a:p>
          <a:p>
            <a:pPr marL="287338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Jl. H </a:t>
            </a:r>
            <a:r>
              <a:rPr lang="en-US" sz="18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Juanda</a:t>
            </a: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Komplek</a:t>
            </a: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Perkantoran</a:t>
            </a: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Pemerintah</a:t>
            </a: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Kabupaten</a:t>
            </a: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</a:rPr>
              <a:t> Aceh </a:t>
            </a:r>
            <a:r>
              <a:rPr lang="en-US" sz="18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Tamiang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E64A1A7-65BD-CF4B-5A43-F63E771A9CB8}"/>
              </a:ext>
            </a:extLst>
          </p:cNvPr>
          <p:cNvSpPr txBox="1">
            <a:spLocks/>
          </p:cNvSpPr>
          <p:nvPr/>
        </p:nvSpPr>
        <p:spPr>
          <a:xfrm>
            <a:off x="4338916" y="4898899"/>
            <a:ext cx="6741459" cy="139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dirty="0" err="1"/>
              <a:t>Bidang</a:t>
            </a:r>
            <a:endParaRPr lang="en-US" dirty="0"/>
          </a:p>
          <a:p>
            <a:pPr marL="4572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b="0" i="0" dirty="0" err="1">
                <a:effectLst/>
                <a:latin typeface="Google Sans"/>
              </a:rPr>
              <a:t>Pengadaan</a:t>
            </a:r>
            <a:r>
              <a:rPr lang="en-US" sz="1200" b="0" i="0" dirty="0">
                <a:effectLst/>
                <a:latin typeface="Google Sans"/>
              </a:rPr>
              <a:t>, </a:t>
            </a:r>
            <a:r>
              <a:rPr lang="en-US" sz="1200" b="0" i="0" dirty="0" err="1">
                <a:effectLst/>
                <a:latin typeface="Google Sans"/>
              </a:rPr>
              <a:t>Pemberhentian</a:t>
            </a:r>
            <a:r>
              <a:rPr lang="en-US" sz="1200" b="0" i="0" dirty="0">
                <a:effectLst/>
                <a:latin typeface="Google Sans"/>
              </a:rPr>
              <a:t>, dan </a:t>
            </a:r>
            <a:r>
              <a:rPr lang="en-US" sz="1200" b="0" i="0" dirty="0" err="1">
                <a:effectLst/>
                <a:latin typeface="Google Sans"/>
              </a:rPr>
              <a:t>Informasi</a:t>
            </a:r>
            <a:endParaRPr lang="en-US" sz="1200" b="0" i="0" dirty="0">
              <a:effectLst/>
              <a:latin typeface="Google Sans"/>
            </a:endParaRPr>
          </a:p>
          <a:p>
            <a:pPr marL="4572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b="0" i="0" dirty="0" err="1">
                <a:effectLst/>
                <a:latin typeface="Google Sans"/>
              </a:rPr>
              <a:t>Mutasi</a:t>
            </a:r>
            <a:r>
              <a:rPr lang="en-US" sz="1200" b="0" i="0" dirty="0">
                <a:effectLst/>
                <a:latin typeface="Google Sans"/>
              </a:rPr>
              <a:t> dan </a:t>
            </a:r>
            <a:r>
              <a:rPr lang="en-US" sz="1200" b="0" i="0" dirty="0" err="1">
                <a:effectLst/>
                <a:latin typeface="Google Sans"/>
              </a:rPr>
              <a:t>Promosi</a:t>
            </a:r>
            <a:endParaRPr lang="en-US" sz="1200" b="0" i="0" dirty="0">
              <a:effectLst/>
              <a:latin typeface="Google Sans"/>
            </a:endParaRPr>
          </a:p>
          <a:p>
            <a:pPr marL="4572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b="0" i="0" dirty="0" err="1">
                <a:effectLst/>
                <a:latin typeface="Google Sans"/>
              </a:rPr>
              <a:t>Penilaian</a:t>
            </a:r>
            <a:r>
              <a:rPr lang="en-US" sz="1200" b="0" i="0" dirty="0">
                <a:effectLst/>
                <a:latin typeface="Google Sans"/>
              </a:rPr>
              <a:t> Kinerja </a:t>
            </a:r>
            <a:r>
              <a:rPr lang="en-US" sz="1200" b="0" i="0" dirty="0" err="1">
                <a:effectLst/>
                <a:latin typeface="Google Sans"/>
              </a:rPr>
              <a:t>Aparatur</a:t>
            </a:r>
            <a:r>
              <a:rPr lang="en-US" sz="1200" b="0" i="0" dirty="0">
                <a:effectLst/>
                <a:latin typeface="Google Sans"/>
              </a:rPr>
              <a:t> dan </a:t>
            </a:r>
            <a:r>
              <a:rPr lang="en-US" sz="1200" b="0" i="0" dirty="0" err="1">
                <a:effectLst/>
                <a:latin typeface="Google Sans"/>
              </a:rPr>
              <a:t>Penghargaan</a:t>
            </a:r>
            <a:endParaRPr lang="en-US" sz="1200" b="0" i="0" dirty="0">
              <a:effectLst/>
              <a:latin typeface="Google Sans"/>
            </a:endParaRPr>
          </a:p>
          <a:p>
            <a:pPr marL="4572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b="0" i="0" dirty="0" err="1">
                <a:effectLst/>
                <a:latin typeface="Google Sans"/>
              </a:rPr>
              <a:t>Pengembangan</a:t>
            </a:r>
            <a:r>
              <a:rPr lang="en-US" sz="1200" b="0" i="0" dirty="0">
                <a:effectLst/>
                <a:latin typeface="Google Sans"/>
              </a:rPr>
              <a:t> </a:t>
            </a:r>
            <a:r>
              <a:rPr lang="en-US" sz="1200" b="0" i="0" dirty="0" err="1">
                <a:effectLst/>
                <a:latin typeface="Google Sans"/>
              </a:rPr>
              <a:t>Kompetensi</a:t>
            </a:r>
            <a:r>
              <a:rPr lang="en-US" sz="1200" b="0" i="0" dirty="0">
                <a:effectLst/>
                <a:latin typeface="Google Sans"/>
              </a:rPr>
              <a:t> </a:t>
            </a:r>
            <a:r>
              <a:rPr lang="en-US" sz="1200" b="0" i="0" dirty="0" err="1">
                <a:effectLst/>
                <a:latin typeface="Google Sans"/>
              </a:rPr>
              <a:t>Aparatur</a:t>
            </a:r>
            <a:endParaRPr lang="en-US" sz="1200" b="0" i="0" dirty="0">
              <a:effectLst/>
              <a:latin typeface="Google Sans"/>
            </a:endParaRPr>
          </a:p>
        </p:txBody>
      </p:sp>
      <p:pic>
        <p:nvPicPr>
          <p:cNvPr id="1026" name="Picture 2" descr="Aceh Tamiang Buka Pendaftaran Seleksi Calon Kadis | Halaman 7">
            <a:extLst>
              <a:ext uri="{FF2B5EF4-FFF2-40B4-BE49-F238E27FC236}">
                <a16:creationId xmlns:a16="http://schemas.microsoft.com/office/drawing/2014/main" id="{5E511145-125A-CB5D-5096-9CA4A1D18C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092" y="3920296"/>
            <a:ext cx="3563416" cy="2375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8760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9724047-3D8C-A239-3D77-56B82D2FB99D}"/>
              </a:ext>
            </a:extLst>
          </p:cNvPr>
          <p:cNvSpPr txBox="1">
            <a:spLocks/>
          </p:cNvSpPr>
          <p:nvPr/>
        </p:nvSpPr>
        <p:spPr>
          <a:xfrm>
            <a:off x="504092" y="674987"/>
            <a:ext cx="11183816" cy="610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Bagian 1-&gt;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Informasi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Tempat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PKL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2C7301-8BA1-06F8-679D-159823E72E0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902" y="1361968"/>
            <a:ext cx="5065395" cy="5065395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5B65DC7-B55F-6B5D-DE80-CFB9E6D6D045}"/>
              </a:ext>
            </a:extLst>
          </p:cNvPr>
          <p:cNvSpPr txBox="1">
            <a:spLocks/>
          </p:cNvSpPr>
          <p:nvPr/>
        </p:nvSpPr>
        <p:spPr>
          <a:xfrm>
            <a:off x="6096000" y="1910166"/>
            <a:ext cx="5394960" cy="151883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4000" dirty="0" err="1"/>
              <a:t>Bidang</a:t>
            </a:r>
            <a:endParaRPr lang="en-US" sz="4000" dirty="0"/>
          </a:p>
          <a:p>
            <a:pPr marL="4572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b="0" i="0" dirty="0" err="1">
                <a:effectLst/>
                <a:latin typeface="Google Sans"/>
              </a:rPr>
              <a:t>Pengadaan</a:t>
            </a:r>
            <a:r>
              <a:rPr lang="en-US" sz="1800" b="0" i="0" dirty="0">
                <a:effectLst/>
                <a:latin typeface="Google Sans"/>
              </a:rPr>
              <a:t>, </a:t>
            </a:r>
            <a:r>
              <a:rPr lang="en-US" sz="1800" b="0" i="0" dirty="0" err="1">
                <a:effectLst/>
                <a:latin typeface="Google Sans"/>
              </a:rPr>
              <a:t>Pemberhentian</a:t>
            </a:r>
            <a:r>
              <a:rPr lang="en-US" sz="1800" b="0" i="0" dirty="0">
                <a:effectLst/>
                <a:latin typeface="Google Sans"/>
              </a:rPr>
              <a:t>, dan </a:t>
            </a:r>
            <a:r>
              <a:rPr lang="en-US" sz="1800" b="0" i="0" dirty="0" err="1">
                <a:effectLst/>
                <a:latin typeface="Google Sans"/>
              </a:rPr>
              <a:t>Informasi</a:t>
            </a:r>
            <a:endParaRPr lang="en-US" sz="1800" b="0" i="0" dirty="0">
              <a:effectLst/>
              <a:latin typeface="Google Sans"/>
            </a:endParaRPr>
          </a:p>
          <a:p>
            <a:pPr marL="4572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b="0" i="0" dirty="0" err="1">
                <a:effectLst/>
                <a:latin typeface="Google Sans"/>
              </a:rPr>
              <a:t>Mutasi</a:t>
            </a:r>
            <a:r>
              <a:rPr lang="en-US" sz="1800" b="0" i="0" dirty="0">
                <a:effectLst/>
                <a:latin typeface="Google Sans"/>
              </a:rPr>
              <a:t> dan </a:t>
            </a:r>
            <a:r>
              <a:rPr lang="en-US" sz="1800" b="0" i="0" dirty="0" err="1">
                <a:effectLst/>
                <a:latin typeface="Google Sans"/>
              </a:rPr>
              <a:t>Promosi</a:t>
            </a:r>
            <a:endParaRPr lang="en-US" sz="1800" b="0" i="0" dirty="0">
              <a:effectLst/>
              <a:latin typeface="Google Sans"/>
            </a:endParaRPr>
          </a:p>
          <a:p>
            <a:pPr marL="4572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b="0" i="0" dirty="0" err="1">
                <a:effectLst/>
                <a:latin typeface="Google Sans"/>
              </a:rPr>
              <a:t>Penilaian</a:t>
            </a:r>
            <a:r>
              <a:rPr lang="en-US" sz="1800" b="0" i="0" dirty="0">
                <a:effectLst/>
                <a:latin typeface="Google Sans"/>
              </a:rPr>
              <a:t> Kinerja </a:t>
            </a:r>
            <a:r>
              <a:rPr lang="en-US" sz="1800" b="0" i="0" dirty="0" err="1">
                <a:effectLst/>
                <a:latin typeface="Google Sans"/>
              </a:rPr>
              <a:t>Aparatur</a:t>
            </a:r>
            <a:r>
              <a:rPr lang="en-US" sz="1800" b="0" i="0" dirty="0">
                <a:effectLst/>
                <a:latin typeface="Google Sans"/>
              </a:rPr>
              <a:t> dan </a:t>
            </a:r>
            <a:r>
              <a:rPr lang="en-US" sz="1800" b="0" i="0" dirty="0" err="1">
                <a:effectLst/>
                <a:latin typeface="Google Sans"/>
              </a:rPr>
              <a:t>Penghargaan</a:t>
            </a:r>
            <a:endParaRPr lang="en-US" sz="1800" b="0" i="0" dirty="0">
              <a:effectLst/>
              <a:latin typeface="Google Sans"/>
            </a:endParaRPr>
          </a:p>
          <a:p>
            <a:pPr marL="4572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b="0" i="0" dirty="0" err="1">
                <a:effectLst/>
                <a:latin typeface="Google Sans"/>
              </a:rPr>
              <a:t>Pengembangan</a:t>
            </a:r>
            <a:r>
              <a:rPr lang="en-US" sz="1800" b="0" i="0" dirty="0">
                <a:effectLst/>
                <a:latin typeface="Google Sans"/>
              </a:rPr>
              <a:t> </a:t>
            </a:r>
            <a:r>
              <a:rPr lang="en-US" sz="1800" b="0" i="0" dirty="0" err="1">
                <a:effectLst/>
                <a:latin typeface="Google Sans"/>
              </a:rPr>
              <a:t>Kompetensi</a:t>
            </a:r>
            <a:r>
              <a:rPr lang="en-US" sz="1800" b="0" i="0" dirty="0">
                <a:effectLst/>
                <a:latin typeface="Google Sans"/>
              </a:rPr>
              <a:t> </a:t>
            </a:r>
            <a:r>
              <a:rPr lang="en-US" sz="1800" b="0" i="0" dirty="0" err="1">
                <a:effectLst/>
                <a:latin typeface="Google Sans"/>
              </a:rPr>
              <a:t>Aparatur</a:t>
            </a:r>
            <a:endParaRPr lang="en-US" sz="1800" b="0" i="0" dirty="0">
              <a:effectLst/>
              <a:latin typeface="Google Sans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38A382A-A785-0271-95A5-49AF537FA193}"/>
              </a:ext>
            </a:extLst>
          </p:cNvPr>
          <p:cNvSpPr txBox="1">
            <a:spLocks/>
          </p:cNvSpPr>
          <p:nvPr/>
        </p:nvSpPr>
        <p:spPr>
          <a:xfrm>
            <a:off x="6096000" y="3859105"/>
            <a:ext cx="5394960" cy="15188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4000" dirty="0" err="1"/>
              <a:t>Fokus</a:t>
            </a:r>
            <a:r>
              <a:rPr lang="en-US" sz="4000" dirty="0"/>
              <a:t> PKL</a:t>
            </a:r>
          </a:p>
          <a:p>
            <a:pPr marL="4572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b="0" i="0" dirty="0" err="1">
                <a:effectLst/>
                <a:latin typeface="Google Sans"/>
              </a:rPr>
              <a:t>Pengadaan</a:t>
            </a:r>
            <a:r>
              <a:rPr lang="en-US" sz="1800" b="0" i="0" dirty="0">
                <a:effectLst/>
                <a:latin typeface="Google Sans"/>
              </a:rPr>
              <a:t>, </a:t>
            </a:r>
            <a:r>
              <a:rPr lang="en-US" sz="1800" b="0" i="0" dirty="0" err="1">
                <a:effectLst/>
                <a:latin typeface="Google Sans"/>
              </a:rPr>
              <a:t>Pemberhentian</a:t>
            </a:r>
            <a:r>
              <a:rPr lang="en-US" sz="1800" b="0" i="0" dirty="0">
                <a:effectLst/>
                <a:latin typeface="Google Sans"/>
              </a:rPr>
              <a:t>, dan </a:t>
            </a:r>
            <a:r>
              <a:rPr lang="en-US" sz="1800" b="0" i="0" dirty="0" err="1">
                <a:effectLst/>
                <a:latin typeface="Google Sans"/>
              </a:rPr>
              <a:t>Informasi</a:t>
            </a:r>
            <a:endParaRPr lang="en-US" sz="1800" b="0" i="0" dirty="0">
              <a:effectLst/>
              <a:latin typeface="Google Sans"/>
            </a:endParaRPr>
          </a:p>
          <a:p>
            <a:pPr marL="4572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b="0" i="0" dirty="0" err="1">
                <a:effectLst/>
                <a:latin typeface="Google Sans"/>
              </a:rPr>
              <a:t>Mutasi</a:t>
            </a:r>
            <a:r>
              <a:rPr lang="en-US" sz="1800" b="0" i="0" dirty="0">
                <a:effectLst/>
                <a:latin typeface="Google Sans"/>
              </a:rPr>
              <a:t> dan </a:t>
            </a:r>
            <a:r>
              <a:rPr lang="en-US" sz="1800" b="0" i="0" dirty="0" err="1">
                <a:effectLst/>
                <a:latin typeface="Google Sans"/>
              </a:rPr>
              <a:t>Promosi</a:t>
            </a:r>
            <a:endParaRPr lang="en-US" sz="1800" b="0" i="0" dirty="0">
              <a:effectLst/>
              <a:latin typeface="Google Sans"/>
            </a:endParaRPr>
          </a:p>
          <a:p>
            <a:pPr marL="4572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b="0" i="0" dirty="0" err="1">
                <a:effectLst/>
                <a:latin typeface="Google Sans"/>
              </a:rPr>
              <a:t>Pengembangan</a:t>
            </a:r>
            <a:r>
              <a:rPr lang="en-US" sz="1800" b="0" i="0" dirty="0">
                <a:effectLst/>
                <a:latin typeface="Google Sans"/>
              </a:rPr>
              <a:t> </a:t>
            </a:r>
            <a:r>
              <a:rPr lang="en-US" sz="1800" b="0" i="0" dirty="0" err="1">
                <a:effectLst/>
                <a:latin typeface="Google Sans"/>
              </a:rPr>
              <a:t>Kompetensi</a:t>
            </a:r>
            <a:r>
              <a:rPr lang="en-US" sz="1800" b="0" i="0" dirty="0">
                <a:effectLst/>
                <a:latin typeface="Google Sans"/>
              </a:rPr>
              <a:t> </a:t>
            </a:r>
            <a:r>
              <a:rPr lang="en-US" sz="1800" b="0" i="0" dirty="0" err="1">
                <a:effectLst/>
                <a:latin typeface="Google Sans"/>
              </a:rPr>
              <a:t>Aparatur</a:t>
            </a:r>
            <a:endParaRPr lang="en-US" sz="1800" b="0" i="0" dirty="0">
              <a:effectLst/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2422271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B696654-DF65-2CEC-5EAC-F2A7F313C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906" y="1521229"/>
            <a:ext cx="10347093" cy="334171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9724047-3D8C-A239-3D77-56B82D2FB99D}"/>
              </a:ext>
            </a:extLst>
          </p:cNvPr>
          <p:cNvSpPr txBox="1">
            <a:spLocks/>
          </p:cNvSpPr>
          <p:nvPr/>
        </p:nvSpPr>
        <p:spPr>
          <a:xfrm>
            <a:off x="504092" y="674987"/>
            <a:ext cx="11183816" cy="610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Bagian 1-&gt;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Rencana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Kegiatan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PKL</a:t>
            </a:r>
          </a:p>
        </p:txBody>
      </p:sp>
    </p:spTree>
    <p:extLst>
      <p:ext uri="{BB962C8B-B14F-4D97-AF65-F5344CB8AC3E}">
        <p14:creationId xmlns:p14="http://schemas.microsoft.com/office/powerpoint/2010/main" val="583329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52956"/>
            <a:ext cx="11183816" cy="610614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Bagian 1-&gt; </a:t>
            </a:r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Kegiatan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selama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 PKL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446" y="6027593"/>
            <a:ext cx="3732008" cy="534762"/>
          </a:xfrm>
        </p:spPr>
        <p:txBody>
          <a:bodyPr/>
          <a:lstStyle/>
          <a:p>
            <a:r>
              <a:rPr lang="id-ID" dirty="0"/>
              <a:t>Kegiatan Piket harian</a:t>
            </a:r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389119" y="6020130"/>
            <a:ext cx="4287383" cy="6106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d-ID" dirty="0"/>
              <a:t>Kegiatan </a:t>
            </a:r>
            <a:r>
              <a:rPr lang="en-US" dirty="0" err="1"/>
              <a:t>Absensi</a:t>
            </a:r>
            <a:endParaRPr lang="en-US" dirty="0"/>
          </a:p>
        </p:txBody>
      </p:sp>
      <p:pic>
        <p:nvPicPr>
          <p:cNvPr id="7" name="Picture 2" descr="SERUNYA PKL DI KANTOR DESA - Website Resmi Desa Argosari Kecamatan Ayah  Kabupaten Kebumen">
            <a:extLst>
              <a:ext uri="{FF2B5EF4-FFF2-40B4-BE49-F238E27FC236}">
                <a16:creationId xmlns:a16="http://schemas.microsoft.com/office/drawing/2014/main" id="{D3265653-6D0F-A4AA-0384-5342EEBB2B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403"/>
          <a:stretch/>
        </p:blipFill>
        <p:spPr bwMode="auto">
          <a:xfrm>
            <a:off x="4553295" y="3954452"/>
            <a:ext cx="3022763" cy="1968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PEL PAGI : MEMPERTAHANKAN PRESTASI">
            <a:extLst>
              <a:ext uri="{FF2B5EF4-FFF2-40B4-BE49-F238E27FC236}">
                <a16:creationId xmlns:a16="http://schemas.microsoft.com/office/drawing/2014/main" id="{06A191A1-1103-E411-9B8C-6BEA667328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5360" y="3954453"/>
            <a:ext cx="3023848" cy="1968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E02A1F5-B725-EF65-B9A0-1BEDFAB5F7FD}"/>
              </a:ext>
            </a:extLst>
          </p:cNvPr>
          <p:cNvSpPr txBox="1">
            <a:spLocks/>
          </p:cNvSpPr>
          <p:nvPr/>
        </p:nvSpPr>
        <p:spPr>
          <a:xfrm>
            <a:off x="8595360" y="6008630"/>
            <a:ext cx="3655615" cy="5726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d-ID" dirty="0"/>
              <a:t>Kegiatan Apel Rutin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6157A12-F87B-3942-EFCD-7CF7A8D66FF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4522" y="1215904"/>
            <a:ext cx="3322955" cy="1968968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3EBC062-F2F1-2EA7-1D2C-BB062A089663}"/>
              </a:ext>
            </a:extLst>
          </p:cNvPr>
          <p:cNvSpPr txBox="1">
            <a:spLocks/>
          </p:cNvSpPr>
          <p:nvPr/>
        </p:nvSpPr>
        <p:spPr>
          <a:xfrm>
            <a:off x="4372454" y="3258629"/>
            <a:ext cx="4287383" cy="6106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d-ID" dirty="0"/>
              <a:t>Kegiatan </a:t>
            </a:r>
            <a:r>
              <a:rPr lang="en-US" dirty="0" err="1"/>
              <a:t>Pendataan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BCB6A27-5499-FA74-F89B-33627DDE6CEB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65" b="14565"/>
          <a:stretch/>
        </p:blipFill>
        <p:spPr bwMode="auto">
          <a:xfrm>
            <a:off x="8581839" y="1182715"/>
            <a:ext cx="3037369" cy="200215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6582B10-6605-D8D9-7991-6502ED093D9F}"/>
              </a:ext>
            </a:extLst>
          </p:cNvPr>
          <p:cNvSpPr txBox="1">
            <a:spLocks/>
          </p:cNvSpPr>
          <p:nvPr/>
        </p:nvSpPr>
        <p:spPr>
          <a:xfrm>
            <a:off x="8520985" y="3258629"/>
            <a:ext cx="4287383" cy="6106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d-ID" dirty="0"/>
              <a:t>Kegiatan </a:t>
            </a:r>
            <a:r>
              <a:rPr lang="en-US" dirty="0" err="1"/>
              <a:t>Pendataan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2493C3E-4BCC-C17D-AC02-0C7FD0BC89E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33" y="1117153"/>
            <a:ext cx="3037369" cy="1968968"/>
          </a:xfrm>
          <a:prstGeom prst="rect">
            <a:avLst/>
          </a:prstGeom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0ABDFCA3-83D3-2B0F-2DB4-0D3E8ED0327E}"/>
              </a:ext>
            </a:extLst>
          </p:cNvPr>
          <p:cNvSpPr txBox="1">
            <a:spLocks/>
          </p:cNvSpPr>
          <p:nvPr/>
        </p:nvSpPr>
        <p:spPr>
          <a:xfrm>
            <a:off x="707571" y="3239893"/>
            <a:ext cx="4287383" cy="6106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Mengikuti</a:t>
            </a:r>
            <a:r>
              <a:rPr lang="en-US" dirty="0"/>
              <a:t> </a:t>
            </a:r>
            <a:r>
              <a:rPr lang="en-US" dirty="0" err="1"/>
              <a:t>Pengajian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35CA0EE-56E6-E97A-173B-7CCAC37F306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34" y="3880284"/>
            <a:ext cx="3037368" cy="2043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509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52956"/>
            <a:ext cx="11183816" cy="610614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Bagian 1-&gt; </a:t>
            </a:r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Kegiatan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selama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 PKL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F3E92A-731E-1F6E-EF93-365210D24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613" y="866687"/>
            <a:ext cx="11095682" cy="5738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81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52956"/>
            <a:ext cx="11183816" cy="610614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Bagian 1-&gt; </a:t>
            </a:r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Kegiatan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selama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 PKL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205E061-AE69-5F9A-CFB1-05CCE10F4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515" y="902494"/>
            <a:ext cx="10697481" cy="5905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6870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52956"/>
            <a:ext cx="11183816" cy="610614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Bagian 1-&gt; </a:t>
            </a:r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Kegiatan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selama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 PKL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2A6047-DA67-4889-B4A0-4337AE064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1" y="920031"/>
            <a:ext cx="10676545" cy="5685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696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9724047-3D8C-A239-3D77-56B82D2FB99D}"/>
              </a:ext>
            </a:extLst>
          </p:cNvPr>
          <p:cNvSpPr txBox="1">
            <a:spLocks/>
          </p:cNvSpPr>
          <p:nvPr/>
        </p:nvSpPr>
        <p:spPr>
          <a:xfrm>
            <a:off x="504092" y="674987"/>
            <a:ext cx="11183816" cy="610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Bagian 1-&gt;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Kendala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Selama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PKL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8C124CD-D0C8-828D-46EA-98D6C2A8E4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110" y="1587033"/>
            <a:ext cx="10247521" cy="1397007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/>
              <a:t>Kendala Pribadi </a:t>
            </a:r>
            <a:endParaRPr lang="en-US" dirty="0"/>
          </a:p>
          <a:p>
            <a:pPr marL="287338" indent="0">
              <a:spcBef>
                <a:spcPts val="0"/>
              </a:spcBef>
              <a:buNone/>
            </a:pPr>
            <a:r>
              <a:rPr lang="en-US" sz="180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Jauh dari tempat tinggal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4467B16-C434-63C6-C6B9-723B53F670BC}"/>
              </a:ext>
            </a:extLst>
          </p:cNvPr>
          <p:cNvSpPr txBox="1">
            <a:spLocks/>
          </p:cNvSpPr>
          <p:nvPr/>
        </p:nvSpPr>
        <p:spPr>
          <a:xfrm>
            <a:off x="690110" y="2476954"/>
            <a:ext cx="10247521" cy="139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/>
              <a:t>Kendala Umum</a:t>
            </a:r>
            <a:endParaRPr lang="en-US" dirty="0"/>
          </a:p>
          <a:p>
            <a:pPr marL="287338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>
                <a:latin typeface="Times New Roman" panose="02020603050405020304" pitchFamily="18" charset="0"/>
                <a:ea typeface="Calibri" panose="020F0502020204030204" pitchFamily="34" charset="0"/>
              </a:rPr>
              <a:t>Tempat PKL terlalu luas sehingga butuh waktu dan energi untuk mempelajari seluruh bidang</a:t>
            </a:r>
          </a:p>
          <a:p>
            <a:pPr marL="287338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>
                <a:latin typeface="Times New Roman" panose="02020603050405020304" pitchFamily="18" charset="0"/>
                <a:ea typeface="Calibri" panose="020F0502020204030204" pitchFamily="34" charset="0"/>
              </a:rPr>
              <a:t>Bidang bidang di tempat PKL kurang begitu relevan dengan jurusan sehingga beberapa pekerjaan dirasa masih perlu belajar lagi untuk ikut membantu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E64A1A7-65BD-CF4B-5A43-F63E771A9CB8}"/>
              </a:ext>
            </a:extLst>
          </p:cNvPr>
          <p:cNvSpPr txBox="1">
            <a:spLocks/>
          </p:cNvSpPr>
          <p:nvPr/>
        </p:nvSpPr>
        <p:spPr>
          <a:xfrm>
            <a:off x="690109" y="3873961"/>
            <a:ext cx="10247522" cy="139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/>
              <a:t>Kendala Sesuai Bidang RPL</a:t>
            </a:r>
            <a:endParaRPr lang="en-US" dirty="0"/>
          </a:p>
          <a:p>
            <a:pPr marL="4572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 b="0" i="0">
                <a:effectLst/>
                <a:latin typeface="Google Sans"/>
              </a:rPr>
              <a:t>Sulitnya mencari informasi untuk mengembangkan APK baik di portal web maupun di kantor</a:t>
            </a:r>
          </a:p>
          <a:p>
            <a:pPr marL="4572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Google Sans"/>
              </a:rPr>
              <a:t>Sebagian narasumber kurang mengerti dan memahami bidang computer jadi kurang maksimal dalam berdiskusi terkait pengembangan apk</a:t>
            </a:r>
          </a:p>
          <a:p>
            <a:pPr marL="4572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400">
                <a:latin typeface="Google Sans"/>
              </a:rPr>
              <a:t>Apk yang telah dibuat kurang mendapat respon positif dari pihak kantor</a:t>
            </a:r>
            <a:endParaRPr lang="en-US" sz="1200"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809784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1DAEE-4F65-723A-FB09-67C7C73B1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205343-EC0C-B69B-B24B-F707E3B92C57}"/>
              </a:ext>
            </a:extLst>
          </p:cNvPr>
          <p:cNvSpPr txBox="1"/>
          <p:nvPr/>
        </p:nvSpPr>
        <p:spPr>
          <a:xfrm>
            <a:off x="2522164" y="1596284"/>
            <a:ext cx="63053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500"/>
              </a:spcBef>
              <a:spcAft>
                <a:spcPts val="750"/>
              </a:spcAft>
            </a:pPr>
            <a:r>
              <a:rPr lang="en-US" sz="7200" b="1" i="0">
                <a:effectLst/>
                <a:latin typeface="Arial Rounded MT Bold" panose="020F0704030504030204" pitchFamily="34" charset="0"/>
              </a:rPr>
              <a:t>BAGIAN 2</a:t>
            </a:r>
            <a:endParaRPr lang="en-US" sz="7200" b="1" i="0" dirty="0">
              <a:effectLst/>
              <a:latin typeface="Arial Rounded MT Bold" panose="020F070403050403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7CE84C5-192E-4447-FC71-649D0ADC8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9084" y="3541222"/>
            <a:ext cx="6550430" cy="2294918"/>
          </a:xfrm>
        </p:spPr>
        <p:txBody>
          <a:bodyPr/>
          <a:lstStyle/>
          <a:p>
            <a:r>
              <a:rPr lang="sv-SE" dirty="0"/>
              <a:t>Analisis Kebutuhan Aplikasi</a:t>
            </a:r>
          </a:p>
          <a:p>
            <a:r>
              <a:rPr lang="sv-SE" dirty="0"/>
              <a:t>Pengujian Aspek Fungsinalitas Aplikasi</a:t>
            </a:r>
          </a:p>
          <a:p>
            <a:r>
              <a:rPr lang="sv-SE" dirty="0"/>
              <a:t>Kesimpulan dan Saran Pengembangan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018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16710-7C2B-22D6-E2FC-4285AB674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EF151-E614-B7E2-972B-B3A349A50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182" y="219982"/>
            <a:ext cx="11664417" cy="563789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Bagian 2-&gt; </a:t>
            </a:r>
            <a:r>
              <a:rPr lang="en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Jadwal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Pembuatan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433A574-7F62-CCC6-C0DE-D86367A395DA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8013326" y="-1458990"/>
            <a:ext cx="825086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56CB4B7-DD3B-1A4F-9963-0CF5613D7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1290991"/>
            <a:ext cx="9912718" cy="471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7526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68400"/>
            <a:ext cx="10515600" cy="50085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D" sz="2600" b="1" dirty="0" err="1"/>
              <a:t>Permasalahan</a:t>
            </a:r>
            <a:r>
              <a:rPr lang="en-ID" sz="2600" b="1" dirty="0"/>
              <a:t> Saat Ini</a:t>
            </a:r>
          </a:p>
          <a:p>
            <a:r>
              <a:rPr lang="en-ID" sz="2600" dirty="0" err="1"/>
              <a:t>Selama</a:t>
            </a:r>
            <a:r>
              <a:rPr lang="en-ID" sz="2600" dirty="0"/>
              <a:t> </a:t>
            </a:r>
            <a:r>
              <a:rPr lang="en-ID" sz="2600" dirty="0" err="1"/>
              <a:t>ini</a:t>
            </a:r>
            <a:r>
              <a:rPr lang="en-ID" sz="2600" dirty="0"/>
              <a:t> </a:t>
            </a:r>
            <a:r>
              <a:rPr lang="en-ID" sz="2600" b="1" dirty="0" err="1"/>
              <a:t>pendataan</a:t>
            </a:r>
            <a:r>
              <a:rPr lang="en-ID" sz="2600" b="1" dirty="0"/>
              <a:t> </a:t>
            </a:r>
            <a:r>
              <a:rPr lang="en-ID" sz="2600" b="1" dirty="0" err="1"/>
              <a:t>penerima</a:t>
            </a:r>
            <a:r>
              <a:rPr lang="en-ID" sz="2600" b="1" dirty="0"/>
              <a:t> </a:t>
            </a:r>
            <a:r>
              <a:rPr lang="en-ID" sz="2600" b="1" dirty="0" err="1"/>
              <a:t>bantuan</a:t>
            </a:r>
            <a:r>
              <a:rPr lang="en-ID" sz="2600" b="1" dirty="0"/>
              <a:t> </a:t>
            </a:r>
            <a:r>
              <a:rPr lang="en-ID" sz="2600" b="1" dirty="0" err="1"/>
              <a:t>masih</a:t>
            </a:r>
            <a:r>
              <a:rPr lang="en-ID" sz="2600" b="1" dirty="0"/>
              <a:t> </a:t>
            </a:r>
            <a:r>
              <a:rPr lang="en-ID" sz="2600" b="1" dirty="0" err="1"/>
              <a:t>dilakukan</a:t>
            </a:r>
            <a:r>
              <a:rPr lang="en-ID" sz="2600" b="1" dirty="0"/>
              <a:t> </a:t>
            </a:r>
            <a:r>
              <a:rPr lang="en-ID" sz="2600" b="1" dirty="0" err="1"/>
              <a:t>secara</a:t>
            </a:r>
            <a:r>
              <a:rPr lang="en-ID" sz="2600" b="1" dirty="0"/>
              <a:t> manual</a:t>
            </a:r>
            <a:r>
              <a:rPr lang="en-ID" sz="2600" dirty="0"/>
              <a:t> </a:t>
            </a:r>
          </a:p>
          <a:p>
            <a:r>
              <a:rPr lang="en-ID" sz="2600" dirty="0"/>
              <a:t>Proses </a:t>
            </a:r>
            <a:r>
              <a:rPr lang="en-ID" sz="2600" dirty="0" err="1"/>
              <a:t>pengajuan</a:t>
            </a:r>
            <a:r>
              <a:rPr lang="en-ID" sz="2600" dirty="0"/>
              <a:t> </a:t>
            </a:r>
            <a:r>
              <a:rPr lang="en-ID" sz="2600" dirty="0" err="1"/>
              <a:t>bantuan</a:t>
            </a:r>
            <a:r>
              <a:rPr lang="en-ID" sz="2600" dirty="0"/>
              <a:t> </a:t>
            </a:r>
            <a:r>
              <a:rPr lang="en-ID" sz="2600" dirty="0" err="1"/>
              <a:t>masih</a:t>
            </a:r>
            <a:r>
              <a:rPr lang="en-ID" sz="2600" dirty="0"/>
              <a:t> </a:t>
            </a:r>
            <a:r>
              <a:rPr lang="en-ID" sz="2600" dirty="0" err="1"/>
              <a:t>tidak</a:t>
            </a:r>
            <a:r>
              <a:rPr lang="en-ID" sz="2600" dirty="0"/>
              <a:t> </a:t>
            </a:r>
            <a:r>
              <a:rPr lang="en-ID" sz="2600" dirty="0" err="1"/>
              <a:t>terstruktur</a:t>
            </a:r>
            <a:r>
              <a:rPr lang="en-ID" sz="2600" dirty="0"/>
              <a:t> </a:t>
            </a:r>
          </a:p>
          <a:p>
            <a:r>
              <a:rPr lang="en-ID" sz="2600" dirty="0" err="1"/>
              <a:t>Verifikasi</a:t>
            </a:r>
            <a:r>
              <a:rPr lang="en-ID" sz="2600" dirty="0"/>
              <a:t> dan </a:t>
            </a:r>
            <a:r>
              <a:rPr lang="en-ID" sz="2600" dirty="0" err="1"/>
              <a:t>penyaluran</a:t>
            </a:r>
            <a:r>
              <a:rPr lang="en-ID" sz="2600" dirty="0"/>
              <a:t> </a:t>
            </a:r>
            <a:r>
              <a:rPr lang="en-ID" sz="2600" dirty="0" err="1"/>
              <a:t>bantuan</a:t>
            </a:r>
            <a:r>
              <a:rPr lang="en-ID" sz="2600" dirty="0"/>
              <a:t> </a:t>
            </a:r>
            <a:r>
              <a:rPr lang="en-ID" sz="2600" dirty="0" err="1"/>
              <a:t>membutuhkan</a:t>
            </a:r>
            <a:r>
              <a:rPr lang="en-ID" sz="2600" dirty="0"/>
              <a:t> </a:t>
            </a:r>
            <a:r>
              <a:rPr lang="en-ID" sz="2600" dirty="0" err="1"/>
              <a:t>waktu</a:t>
            </a:r>
            <a:r>
              <a:rPr lang="en-ID" sz="2600" dirty="0"/>
              <a:t> lama </a:t>
            </a:r>
          </a:p>
          <a:p>
            <a:r>
              <a:rPr lang="en-ID" sz="2600" dirty="0"/>
              <a:t>Data </a:t>
            </a:r>
            <a:r>
              <a:rPr lang="en-ID" sz="2600" dirty="0" err="1"/>
              <a:t>penerima</a:t>
            </a:r>
            <a:r>
              <a:rPr lang="en-ID" sz="2600" dirty="0"/>
              <a:t> </a:t>
            </a:r>
            <a:r>
              <a:rPr lang="en-ID" sz="2600" dirty="0" err="1"/>
              <a:t>tidak</a:t>
            </a:r>
            <a:r>
              <a:rPr lang="en-ID" sz="2600" dirty="0"/>
              <a:t> </a:t>
            </a:r>
            <a:r>
              <a:rPr lang="en-ID" sz="2600" dirty="0" err="1"/>
              <a:t>terintegrasi</a:t>
            </a:r>
            <a:r>
              <a:rPr lang="en-ID" sz="2600" dirty="0"/>
              <a:t> </a:t>
            </a:r>
            <a:r>
              <a:rPr lang="en-ID" sz="2600" dirty="0" err="1"/>
              <a:t>dalam</a:t>
            </a:r>
            <a:r>
              <a:rPr lang="en-ID" sz="2600" dirty="0"/>
              <a:t> </a:t>
            </a:r>
            <a:r>
              <a:rPr lang="en-ID" sz="2600" dirty="0" err="1"/>
              <a:t>satu</a:t>
            </a:r>
            <a:r>
              <a:rPr lang="en-ID" sz="2600" dirty="0"/>
              <a:t> </a:t>
            </a:r>
            <a:r>
              <a:rPr lang="en-ID" sz="2600" dirty="0" err="1"/>
              <a:t>sistem</a:t>
            </a:r>
            <a:r>
              <a:rPr lang="en-ID" sz="2600" dirty="0"/>
              <a:t> </a:t>
            </a:r>
          </a:p>
          <a:p>
            <a:pPr marL="0" indent="0">
              <a:buNone/>
            </a:pPr>
            <a:endParaRPr lang="en-ID" b="1" dirty="0"/>
          </a:p>
          <a:p>
            <a:pPr marL="0" indent="0">
              <a:buNone/>
            </a:pPr>
            <a:r>
              <a:rPr lang="en-ID" b="1" dirty="0"/>
              <a:t>Tujuan </a:t>
            </a:r>
            <a:r>
              <a:rPr lang="en-ID" b="1" dirty="0" err="1"/>
              <a:t>Sistem</a:t>
            </a:r>
            <a:endParaRPr lang="en-ID" b="1" dirty="0"/>
          </a:p>
          <a:p>
            <a:r>
              <a:rPr lang="en-ID" b="1" dirty="0" err="1"/>
              <a:t>Mudah</a:t>
            </a:r>
            <a:r>
              <a:rPr lang="en-ID" dirty="0"/>
              <a:t> → Proses </a:t>
            </a:r>
            <a:r>
              <a:rPr lang="en-ID" dirty="0" err="1"/>
              <a:t>pengajuan</a:t>
            </a:r>
            <a:r>
              <a:rPr lang="en-ID" dirty="0"/>
              <a:t> dan </a:t>
            </a:r>
            <a:r>
              <a:rPr lang="en-ID" dirty="0" err="1"/>
              <a:t>pengelolaan</a:t>
            </a:r>
            <a:r>
              <a:rPr lang="en-ID" dirty="0"/>
              <a:t> </a:t>
            </a:r>
            <a:r>
              <a:rPr lang="en-ID" dirty="0" err="1"/>
              <a:t>bantuan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sederhana</a:t>
            </a:r>
            <a:r>
              <a:rPr lang="en-ID" dirty="0"/>
              <a:t> </a:t>
            </a:r>
          </a:p>
          <a:p>
            <a:r>
              <a:rPr lang="en-ID" b="1" dirty="0" err="1"/>
              <a:t>Murah</a:t>
            </a:r>
            <a:r>
              <a:rPr lang="en-ID" dirty="0"/>
              <a:t> → </a:t>
            </a:r>
            <a:r>
              <a:rPr lang="en-ID" dirty="0" err="1"/>
              <a:t>Mengurangi</a:t>
            </a:r>
            <a:r>
              <a:rPr lang="en-ID" dirty="0"/>
              <a:t> </a:t>
            </a:r>
            <a:r>
              <a:rPr lang="en-ID" dirty="0" err="1"/>
              <a:t>biaya</a:t>
            </a:r>
            <a:r>
              <a:rPr lang="en-ID" dirty="0"/>
              <a:t> </a:t>
            </a:r>
            <a:r>
              <a:rPr lang="en-ID" dirty="0" err="1"/>
              <a:t>administrasi</a:t>
            </a:r>
            <a:r>
              <a:rPr lang="en-ID" dirty="0"/>
              <a:t> manual </a:t>
            </a:r>
          </a:p>
          <a:p>
            <a:r>
              <a:rPr lang="en-ID" b="1" dirty="0" err="1"/>
              <a:t>Efisien</a:t>
            </a:r>
            <a:r>
              <a:rPr lang="en-ID" dirty="0"/>
              <a:t> → </a:t>
            </a:r>
            <a:r>
              <a:rPr lang="en-ID" dirty="0" err="1"/>
              <a:t>Mempercepat</a:t>
            </a:r>
            <a:r>
              <a:rPr lang="en-ID" dirty="0"/>
              <a:t> proses </a:t>
            </a:r>
            <a:r>
              <a:rPr lang="en-ID" dirty="0" err="1"/>
              <a:t>verifikasi</a:t>
            </a:r>
            <a:r>
              <a:rPr lang="en-ID" dirty="0"/>
              <a:t> dan </a:t>
            </a:r>
            <a:r>
              <a:rPr lang="en-ID" dirty="0" err="1"/>
              <a:t>penyaluran</a:t>
            </a:r>
            <a:r>
              <a:rPr lang="en-ID" dirty="0"/>
              <a:t> </a:t>
            </a:r>
          </a:p>
          <a:p>
            <a:r>
              <a:rPr lang="en-ID" b="1" dirty="0" err="1"/>
              <a:t>Efektif</a:t>
            </a:r>
            <a:r>
              <a:rPr lang="en-ID" dirty="0"/>
              <a:t> → Data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akurat</a:t>
            </a:r>
            <a:r>
              <a:rPr lang="en-ID" dirty="0"/>
              <a:t> dan </a:t>
            </a:r>
            <a:r>
              <a:rPr lang="en-ID" dirty="0" err="1"/>
              <a:t>terpusat</a:t>
            </a:r>
            <a:endParaRPr lang="en-ID" dirty="0"/>
          </a:p>
          <a:p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375183" y="219982"/>
            <a:ext cx="7609114" cy="5637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Bagian 2-&gt;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Analisis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Kebutuhan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76025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375183" y="219982"/>
            <a:ext cx="10809284" cy="5637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Bagian 2-&gt; </a:t>
            </a:r>
            <a:r>
              <a:rPr lang="en-US" sz="3200" b="1" err="1">
                <a:latin typeface="Arial" panose="020B0604020202020204" pitchFamily="34" charset="0"/>
                <a:cs typeface="Arial" panose="020B0604020202020204" pitchFamily="34" charset="0"/>
              </a:rPr>
              <a:t>Analisis</a:t>
            </a:r>
            <a:r>
              <a:rPr lang="en-US" sz="3200" b="1">
                <a:latin typeface="Arial" panose="020B0604020202020204" pitchFamily="34" charset="0"/>
                <a:cs typeface="Arial" panose="020B0604020202020204" pitchFamily="34" charset="0"/>
              </a:rPr>
              <a:t> Kebutuhan-&gt; kuesioner (G-Form)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ECD5FB-B378-9B06-E18E-B5415E9E4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465" y="991205"/>
            <a:ext cx="5042535" cy="22155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5F088BC-BB20-C375-868A-3B272F65F8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464" y="3640976"/>
            <a:ext cx="5042535" cy="2209165"/>
          </a:xfrm>
          <a:prstGeom prst="rect">
            <a:avLst/>
          </a:prstGeom>
        </p:spPr>
      </p:pic>
      <p:pic>
        <p:nvPicPr>
          <p:cNvPr id="4098" name="Picture 2" descr="Cara Mengisi Kuesioner Sensus Penduduk 2020, Siapkan 3 Dokumen Ini -  TribunNews.com">
            <a:extLst>
              <a:ext uri="{FF2B5EF4-FFF2-40B4-BE49-F238E27FC236}">
                <a16:creationId xmlns:a16="http://schemas.microsoft.com/office/drawing/2014/main" id="{2B194208-546F-211B-24D2-D6119072B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7858" y="991206"/>
            <a:ext cx="4890083" cy="2745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Pengisian Indeks Profesionalitas ASN Pemprov Kaltim, BKD Lakukan Verifikasi  Data - BKD. Prov.Kaltim">
            <a:extLst>
              <a:ext uri="{FF2B5EF4-FFF2-40B4-BE49-F238E27FC236}">
                <a16:creationId xmlns:a16="http://schemas.microsoft.com/office/drawing/2014/main" id="{FA54CA50-900F-7499-587E-5372D8EB5A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10" b="26034"/>
          <a:stretch/>
        </p:blipFill>
        <p:spPr bwMode="auto">
          <a:xfrm>
            <a:off x="6697856" y="3830175"/>
            <a:ext cx="4890085" cy="2217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16571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375182" y="219982"/>
            <a:ext cx="11489585" cy="5637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Bagian 2-&gt;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Analisis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Kebutuhan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-&gt;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Matrik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Fitur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32B257-C7BA-9981-2B67-5D79A01E3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3002" y="1126235"/>
            <a:ext cx="5443950" cy="5698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39E044-596F-B225-32F0-8C7817A4AF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232" y="1126235"/>
            <a:ext cx="5768768" cy="30688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3F1FEE6-1980-84A3-AAFE-1343DCE3A2C7}"/>
              </a:ext>
            </a:extLst>
          </p:cNvPr>
          <p:cNvSpPr txBox="1"/>
          <p:nvPr/>
        </p:nvSpPr>
        <p:spPr>
          <a:xfrm>
            <a:off x="327232" y="783771"/>
            <a:ext cx="6097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id-ID" b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Matrik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Kebutuhan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CE06AA-83F1-BA62-197C-F095C92B6A90}"/>
              </a:ext>
            </a:extLst>
          </p:cNvPr>
          <p:cNvSpPr txBox="1"/>
          <p:nvPr/>
        </p:nvSpPr>
        <p:spPr>
          <a:xfrm>
            <a:off x="6543002" y="756903"/>
            <a:ext cx="49369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id-ID" b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Analisis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Fitur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8745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460BA82B-4E2D-1DD9-0BF3-44552FAB0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8254" y="3429000"/>
            <a:ext cx="4923592" cy="20642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5183" y="219982"/>
            <a:ext cx="11300350" cy="563789"/>
          </a:xfrm>
        </p:spPr>
        <p:txBody>
          <a:bodyPr>
            <a:normAutofit fontScale="90000"/>
          </a:bodyPr>
          <a:lstStyle/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Bagian 2-&gt;  DESAIN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PROTOTYPE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 flipV="1">
            <a:off x="8013326" y="-1458990"/>
            <a:ext cx="825086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EF5A63-222E-8897-98BE-B8C9C66EA06B}"/>
              </a:ext>
            </a:extLst>
          </p:cNvPr>
          <p:cNvSpPr txBox="1"/>
          <p:nvPr/>
        </p:nvSpPr>
        <p:spPr>
          <a:xfrm>
            <a:off x="671515" y="5947366"/>
            <a:ext cx="1100401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ctr"/>
            <a:r>
              <a:rPr lang="en-US" sz="2400" b="1" i="0" dirty="0">
                <a:effectLst/>
                <a:latin typeface="Google Sans"/>
              </a:rPr>
              <a:t>Prototype </a:t>
            </a:r>
            <a:r>
              <a:rPr lang="en-US" sz="2400" b="1" i="0" dirty="0" err="1">
                <a:effectLst/>
                <a:latin typeface="Google Sans"/>
              </a:rPr>
              <a:t>selengkapnya</a:t>
            </a:r>
            <a:r>
              <a:rPr lang="en-US" sz="2400" b="1" i="0" dirty="0">
                <a:effectLst/>
                <a:latin typeface="Google Sans"/>
              </a:rPr>
              <a:t> </a:t>
            </a:r>
            <a:r>
              <a:rPr lang="en-US" sz="2400" b="1" i="0" dirty="0" err="1">
                <a:effectLst/>
                <a:latin typeface="Google Sans"/>
              </a:rPr>
              <a:t>dapat</a:t>
            </a:r>
            <a:r>
              <a:rPr lang="en-US" sz="2400" b="1" i="0" dirty="0">
                <a:effectLst/>
                <a:latin typeface="Google Sans"/>
              </a:rPr>
              <a:t> </a:t>
            </a:r>
            <a:r>
              <a:rPr lang="en-US" sz="2400" b="1" i="0" dirty="0" err="1">
                <a:effectLst/>
                <a:latin typeface="Google Sans"/>
              </a:rPr>
              <a:t>dilihat</a:t>
            </a:r>
            <a:r>
              <a:rPr lang="en-US" sz="2400" b="1" dirty="0">
                <a:latin typeface="Google Sans"/>
              </a:rPr>
              <a:t> pada link FIGMA </a:t>
            </a:r>
            <a:r>
              <a:rPr lang="en-US" sz="2400" b="1" dirty="0" err="1">
                <a:latin typeface="Google Sans"/>
              </a:rPr>
              <a:t>berikut</a:t>
            </a:r>
            <a:r>
              <a:rPr lang="en-US" sz="2400" b="1" dirty="0">
                <a:latin typeface="Google Sans"/>
              </a:rPr>
              <a:t> : </a:t>
            </a:r>
          </a:p>
          <a:p>
            <a:pPr algn="l" fontAlgn="ctr"/>
            <a:r>
              <a:rPr lang="en-US" sz="1600" b="0" i="0" dirty="0">
                <a:effectLst/>
                <a:latin typeface="Google Sans"/>
                <a:hlinkClick r:id="rId3"/>
              </a:rPr>
              <a:t>https://www.figma.com/design/8YFDYMrGRzPrxVFVYTaGI6/Prototyping-in-Figma?node-id=0-1&amp;p=f&amp;t=qInI0brsGvnm1Ve7-0</a:t>
            </a:r>
            <a:r>
              <a:rPr lang="en-US" sz="1600" b="0" i="0" dirty="0">
                <a:effectLst/>
                <a:latin typeface="Google Sans"/>
              </a:rPr>
              <a:t>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A08A159-2D1D-51FB-B94D-0CF05B30E1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530" y="3429000"/>
            <a:ext cx="4414780" cy="194010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47F3FCA-D244-A001-F54D-3F3AB3E0E4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863" y="907896"/>
            <a:ext cx="4414780" cy="225017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6E4A30E-AD8F-071D-5DE5-31DDBE411B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8254" y="1061144"/>
            <a:ext cx="4870143" cy="2164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5832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EE6D36D-F422-82EF-6988-A61F738909ED}"/>
              </a:ext>
            </a:extLst>
          </p:cNvPr>
          <p:cNvSpPr txBox="1">
            <a:spLocks/>
          </p:cNvSpPr>
          <p:nvPr/>
        </p:nvSpPr>
        <p:spPr>
          <a:xfrm>
            <a:off x="375183" y="141059"/>
            <a:ext cx="10860084" cy="5637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>
                <a:latin typeface="Arial" panose="020B0604020202020204" pitchFamily="34" charset="0"/>
                <a:cs typeface="Arial" panose="020B0604020202020204" pitchFamily="34" charset="0"/>
              </a:rPr>
              <a:t>Bagian 2-&gt; </a:t>
            </a:r>
            <a:r>
              <a:rPr lang="id-ID" sz="3200" b="1">
                <a:latin typeface="Arial" panose="020B0604020202020204" pitchFamily="34" charset="0"/>
                <a:cs typeface="Arial" panose="020B0604020202020204" pitchFamily="34" charset="0"/>
              </a:rPr>
              <a:t>Perancangan -&gt;</a:t>
            </a:r>
            <a:r>
              <a:rPr lang="en-US" sz="3200" b="1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Case</a:t>
            </a:r>
            <a:r>
              <a:rPr lang="en-US" sz="3200" b="1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0246B9-EF9A-74B5-F261-0519F9FCD7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183" y="902728"/>
            <a:ext cx="9140928" cy="5230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7025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EE6D36D-F422-82EF-6988-A61F738909ED}"/>
              </a:ext>
            </a:extLst>
          </p:cNvPr>
          <p:cNvSpPr txBox="1">
            <a:spLocks/>
          </p:cNvSpPr>
          <p:nvPr/>
        </p:nvSpPr>
        <p:spPr>
          <a:xfrm>
            <a:off x="375183" y="141059"/>
            <a:ext cx="10860084" cy="5637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>
                <a:latin typeface="Arial" panose="020B0604020202020204" pitchFamily="34" charset="0"/>
                <a:cs typeface="Arial" panose="020B0604020202020204" pitchFamily="34" charset="0"/>
              </a:rPr>
              <a:t>Bagian 2-&gt; Uji Fitur</a:t>
            </a:r>
            <a:r>
              <a:rPr lang="id-ID" sz="3200" b="1">
                <a:latin typeface="Arial" panose="020B0604020202020204" pitchFamily="34" charset="0"/>
                <a:cs typeface="Arial" panose="020B0604020202020204" pitchFamily="34" charset="0"/>
              </a:rPr>
              <a:t> -&gt;</a:t>
            </a:r>
            <a:r>
              <a:rPr lang="en-US" sz="3200" b="1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Activity Diagram</a:t>
            </a:r>
            <a:r>
              <a:rPr lang="en-US" sz="3200" b="1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B7C1FA-F012-BA0D-9A48-A6C36CAEB4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929" y="973137"/>
            <a:ext cx="8665754" cy="5350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8248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EE6D36D-F422-82EF-6988-A61F738909ED}"/>
              </a:ext>
            </a:extLst>
          </p:cNvPr>
          <p:cNvSpPr txBox="1">
            <a:spLocks/>
          </p:cNvSpPr>
          <p:nvPr/>
        </p:nvSpPr>
        <p:spPr>
          <a:xfrm>
            <a:off x="375183" y="141059"/>
            <a:ext cx="10860084" cy="5637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>
                <a:latin typeface="Arial" panose="020B0604020202020204" pitchFamily="34" charset="0"/>
                <a:cs typeface="Arial" panose="020B0604020202020204" pitchFamily="34" charset="0"/>
              </a:rPr>
              <a:t>Bagian 2-&gt; Uji Fitur</a:t>
            </a:r>
            <a:r>
              <a:rPr lang="id-ID" sz="3200" b="1">
                <a:latin typeface="Arial" panose="020B0604020202020204" pitchFamily="34" charset="0"/>
                <a:cs typeface="Arial" panose="020B0604020202020204" pitchFamily="34" charset="0"/>
              </a:rPr>
              <a:t> -&gt;</a:t>
            </a:r>
            <a:r>
              <a:rPr lang="en-US" sz="3200" b="1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Squences Diagram</a:t>
            </a:r>
            <a:r>
              <a:rPr lang="en-US" sz="3200" b="1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15C884-3DE6-D730-0A64-5CAFABCC02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746" y="874536"/>
            <a:ext cx="8646064" cy="5163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0491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EE6D36D-F422-82EF-6988-A61F738909ED}"/>
              </a:ext>
            </a:extLst>
          </p:cNvPr>
          <p:cNvSpPr txBox="1">
            <a:spLocks/>
          </p:cNvSpPr>
          <p:nvPr/>
        </p:nvSpPr>
        <p:spPr>
          <a:xfrm>
            <a:off x="375183" y="141059"/>
            <a:ext cx="10860084" cy="5637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Bagian 2-&gt; 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Perancangan -&gt;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DB Desain </a:t>
            </a:r>
            <a:r>
              <a:rPr lang="en-US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PHPMyAdmin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643209-4FB8-8206-0A5F-FE1E8FCBF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642" y="1022144"/>
            <a:ext cx="10629625" cy="5556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9671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EE6D36D-F422-82EF-6988-A61F738909ED}"/>
              </a:ext>
            </a:extLst>
          </p:cNvPr>
          <p:cNvSpPr txBox="1">
            <a:spLocks/>
          </p:cNvSpPr>
          <p:nvPr/>
        </p:nvSpPr>
        <p:spPr>
          <a:xfrm>
            <a:off x="375183" y="141059"/>
            <a:ext cx="10860084" cy="5637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>
                <a:latin typeface="Arial" panose="020B0604020202020204" pitchFamily="34" charset="0"/>
                <a:cs typeface="Arial" panose="020B0604020202020204" pitchFamily="34" charset="0"/>
              </a:rPr>
              <a:t>Bagian 2-&gt; Uji Fitur</a:t>
            </a:r>
            <a:r>
              <a:rPr lang="id-ID" sz="3200" b="1">
                <a:latin typeface="Arial" panose="020B0604020202020204" pitchFamily="34" charset="0"/>
                <a:cs typeface="Arial" panose="020B0604020202020204" pitchFamily="34" charset="0"/>
              </a:rPr>
              <a:t> -&gt;</a:t>
            </a:r>
            <a:r>
              <a:rPr lang="en-US" sz="3200" b="1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Dengan Pembimbing</a:t>
            </a:r>
            <a:r>
              <a:rPr lang="en-US" sz="3200" b="1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743429-866F-29A0-751C-B54066B76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740" y="870858"/>
            <a:ext cx="4817259" cy="57796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9ACCF8D-AC56-38D6-D079-AC0F8B839E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846" y="1171219"/>
            <a:ext cx="5573067" cy="290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9553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EE6D36D-F422-82EF-6988-A61F738909ED}"/>
              </a:ext>
            </a:extLst>
          </p:cNvPr>
          <p:cNvSpPr txBox="1">
            <a:spLocks/>
          </p:cNvSpPr>
          <p:nvPr/>
        </p:nvSpPr>
        <p:spPr>
          <a:xfrm>
            <a:off x="375183" y="141059"/>
            <a:ext cx="10860084" cy="5637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>
                <a:latin typeface="Arial" panose="020B0604020202020204" pitchFamily="34" charset="0"/>
                <a:cs typeface="Arial" panose="020B0604020202020204" pitchFamily="34" charset="0"/>
              </a:rPr>
              <a:t>Bagian 2-&gt; Uji</a:t>
            </a:r>
            <a:r>
              <a:rPr lang="id-ID" sz="32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>
                <a:latin typeface="Arial" panose="020B0604020202020204" pitchFamily="34" charset="0"/>
                <a:cs typeface="Arial" panose="020B0604020202020204" pitchFamily="34" charset="0"/>
              </a:rPr>
              <a:t>Fitur</a:t>
            </a:r>
            <a:r>
              <a:rPr lang="id-ID" sz="3200" b="1">
                <a:latin typeface="Arial" panose="020B0604020202020204" pitchFamily="34" charset="0"/>
                <a:cs typeface="Arial" panose="020B0604020202020204" pitchFamily="34" charset="0"/>
              </a:rPr>
              <a:t>-&gt;</a:t>
            </a:r>
            <a:r>
              <a:rPr lang="en-US" sz="3200" b="1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TreeDiagram</a:t>
            </a:r>
            <a:r>
              <a:rPr lang="en-US" sz="3200" b="1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B40970-B517-B4EF-74BF-F28035F52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45078"/>
            <a:ext cx="10625667" cy="5657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3215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EE6D36D-F422-82EF-6988-A61F738909ED}"/>
              </a:ext>
            </a:extLst>
          </p:cNvPr>
          <p:cNvSpPr txBox="1">
            <a:spLocks/>
          </p:cNvSpPr>
          <p:nvPr/>
        </p:nvSpPr>
        <p:spPr>
          <a:xfrm>
            <a:off x="375183" y="141059"/>
            <a:ext cx="10860084" cy="5637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>
                <a:latin typeface="Arial" panose="020B0604020202020204" pitchFamily="34" charset="0"/>
                <a:cs typeface="Arial" panose="020B0604020202020204" pitchFamily="34" charset="0"/>
              </a:rPr>
              <a:t>Bagian 2-&gt; Uji</a:t>
            </a:r>
            <a:r>
              <a:rPr lang="id-ID" sz="32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>
                <a:latin typeface="Arial" panose="020B0604020202020204" pitchFamily="34" charset="0"/>
                <a:cs typeface="Arial" panose="020B0604020202020204" pitchFamily="34" charset="0"/>
              </a:rPr>
              <a:t>Fitur</a:t>
            </a:r>
            <a:r>
              <a:rPr lang="id-ID" sz="3200" b="1">
                <a:latin typeface="Arial" panose="020B0604020202020204" pitchFamily="34" charset="0"/>
                <a:cs typeface="Arial" panose="020B0604020202020204" pitchFamily="34" charset="0"/>
              </a:rPr>
              <a:t>-&gt;</a:t>
            </a:r>
            <a:r>
              <a:rPr lang="en-US" sz="3200" b="1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Route Web</a:t>
            </a:r>
            <a:r>
              <a:rPr lang="en-US" sz="3200" b="1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AEF7B3-5837-441F-F700-D85DD0268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848591"/>
            <a:ext cx="9615055" cy="5694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7206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EE6D36D-F422-82EF-6988-A61F738909ED}"/>
              </a:ext>
            </a:extLst>
          </p:cNvPr>
          <p:cNvSpPr txBox="1">
            <a:spLocks/>
          </p:cNvSpPr>
          <p:nvPr/>
        </p:nvSpPr>
        <p:spPr>
          <a:xfrm>
            <a:off x="375183" y="141059"/>
            <a:ext cx="10860084" cy="5637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>
                <a:latin typeface="Arial" panose="020B0604020202020204" pitchFamily="34" charset="0"/>
                <a:cs typeface="Arial" panose="020B0604020202020204" pitchFamily="34" charset="0"/>
              </a:rPr>
              <a:t>Bagian 2-&gt; Uji</a:t>
            </a:r>
            <a:r>
              <a:rPr lang="id-ID" sz="32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>
                <a:latin typeface="Arial" panose="020B0604020202020204" pitchFamily="34" charset="0"/>
                <a:cs typeface="Arial" panose="020B0604020202020204" pitchFamily="34" charset="0"/>
              </a:rPr>
              <a:t>Fitur</a:t>
            </a:r>
            <a:r>
              <a:rPr lang="id-ID" sz="3200" b="1">
                <a:latin typeface="Arial" panose="020B0604020202020204" pitchFamily="34" charset="0"/>
                <a:cs typeface="Arial" panose="020B0604020202020204" pitchFamily="34" charset="0"/>
              </a:rPr>
              <a:t>-&gt;</a:t>
            </a:r>
            <a:r>
              <a:rPr lang="en-US" sz="3200" b="1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Route List</a:t>
            </a:r>
            <a:r>
              <a:rPr lang="en-US" sz="3200" b="1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22AFC0-CB48-D0BE-77E6-CD9F995B1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162" y="914400"/>
            <a:ext cx="7980217" cy="5194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2903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EE6D36D-F422-82EF-6988-A61F738909ED}"/>
              </a:ext>
            </a:extLst>
          </p:cNvPr>
          <p:cNvSpPr txBox="1">
            <a:spLocks/>
          </p:cNvSpPr>
          <p:nvPr/>
        </p:nvSpPr>
        <p:spPr>
          <a:xfrm>
            <a:off x="375183" y="141059"/>
            <a:ext cx="10860084" cy="5637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>
                <a:latin typeface="Arial" panose="020B0604020202020204" pitchFamily="34" charset="0"/>
                <a:cs typeface="Arial" panose="020B0604020202020204" pitchFamily="34" charset="0"/>
              </a:rPr>
              <a:t>Bagian 2-&gt; Uji</a:t>
            </a:r>
            <a:r>
              <a:rPr lang="id-ID" sz="32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>
                <a:latin typeface="Arial" panose="020B0604020202020204" pitchFamily="34" charset="0"/>
                <a:cs typeface="Arial" panose="020B0604020202020204" pitchFamily="34" charset="0"/>
              </a:rPr>
              <a:t>Fitur</a:t>
            </a:r>
            <a:r>
              <a:rPr lang="id-ID" sz="3200" b="1">
                <a:latin typeface="Arial" panose="020B0604020202020204" pitchFamily="34" charset="0"/>
                <a:cs typeface="Arial" panose="020B0604020202020204" pitchFamily="34" charset="0"/>
              </a:rPr>
              <a:t>-&gt;</a:t>
            </a:r>
            <a:r>
              <a:rPr lang="en-US" sz="3200" b="1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Landing</a:t>
            </a:r>
            <a:r>
              <a:rPr lang="en-US" sz="3200" b="1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29F397-8314-0D29-E805-58B0A8277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184" y="827745"/>
            <a:ext cx="10478864" cy="5656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3315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EE6D36D-F422-82EF-6988-A61F738909ED}"/>
              </a:ext>
            </a:extLst>
          </p:cNvPr>
          <p:cNvSpPr txBox="1">
            <a:spLocks/>
          </p:cNvSpPr>
          <p:nvPr/>
        </p:nvSpPr>
        <p:spPr>
          <a:xfrm>
            <a:off x="375183" y="141059"/>
            <a:ext cx="10860084" cy="5637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>
                <a:latin typeface="Arial" panose="020B0604020202020204" pitchFamily="34" charset="0"/>
                <a:cs typeface="Arial" panose="020B0604020202020204" pitchFamily="34" charset="0"/>
              </a:rPr>
              <a:t>Bagian 2-&gt; Uji</a:t>
            </a:r>
            <a:r>
              <a:rPr lang="id-ID" sz="32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>
                <a:latin typeface="Arial" panose="020B0604020202020204" pitchFamily="34" charset="0"/>
                <a:cs typeface="Arial" panose="020B0604020202020204" pitchFamily="34" charset="0"/>
              </a:rPr>
              <a:t>Fitur</a:t>
            </a:r>
            <a:r>
              <a:rPr lang="id-ID" sz="3200" b="1">
                <a:latin typeface="Arial" panose="020B0604020202020204" pitchFamily="34" charset="0"/>
                <a:cs typeface="Arial" panose="020B0604020202020204" pitchFamily="34" charset="0"/>
              </a:rPr>
              <a:t>-&gt;</a:t>
            </a:r>
            <a:r>
              <a:rPr lang="en-US" sz="3200" b="1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Login User &amp; Anggota</a:t>
            </a:r>
            <a:r>
              <a:rPr lang="en-US" sz="3200" b="1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835732-E102-15C8-9F4C-816F78308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830" y="1436914"/>
            <a:ext cx="6210794" cy="361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521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A1306-91AF-E4BF-7570-D8C115308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62F4ABC-829D-D6B0-B876-9F465336A96E}"/>
              </a:ext>
            </a:extLst>
          </p:cNvPr>
          <p:cNvSpPr txBox="1">
            <a:spLocks/>
          </p:cNvSpPr>
          <p:nvPr/>
        </p:nvSpPr>
        <p:spPr>
          <a:xfrm>
            <a:off x="375183" y="141059"/>
            <a:ext cx="10860084" cy="5637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Bagian 2-&gt; Uji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Fitur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-&gt;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Dashboard Admin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AD2191-D6CE-E231-7836-8A6C2F2C7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183" y="787775"/>
            <a:ext cx="10490938" cy="5577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6624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FE8A0-199C-AC7B-02BF-41128E08C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053AE31-3EDF-4F32-4EC9-01311725019D}"/>
              </a:ext>
            </a:extLst>
          </p:cNvPr>
          <p:cNvSpPr txBox="1">
            <a:spLocks/>
          </p:cNvSpPr>
          <p:nvPr/>
        </p:nvSpPr>
        <p:spPr>
          <a:xfrm>
            <a:off x="375183" y="141059"/>
            <a:ext cx="10860084" cy="5637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Bagian 2-&gt; Uji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Fitur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-&gt;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en-US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Bantuan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EAA619-E9D1-CE5A-C178-C98C96889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184" y="802256"/>
            <a:ext cx="10295692" cy="533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8114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FE8A0-199C-AC7B-02BF-41128E08C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053AE31-3EDF-4F32-4EC9-01311725019D}"/>
              </a:ext>
            </a:extLst>
          </p:cNvPr>
          <p:cNvSpPr txBox="1">
            <a:spLocks/>
          </p:cNvSpPr>
          <p:nvPr/>
        </p:nvSpPr>
        <p:spPr>
          <a:xfrm>
            <a:off x="375183" y="141059"/>
            <a:ext cx="10860084" cy="5637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Bagian 2-&gt; Uji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Fitur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-&gt;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en-US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Bantuan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074ED2-6930-356C-CA8F-B8015A468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958" y="948906"/>
            <a:ext cx="9851367" cy="4986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8276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40EF1-3E63-C025-52BD-BEF61E81E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24D96A9-EDAB-0985-8FF9-7EB218C25EC7}"/>
              </a:ext>
            </a:extLst>
          </p:cNvPr>
          <p:cNvSpPr txBox="1">
            <a:spLocks/>
          </p:cNvSpPr>
          <p:nvPr/>
        </p:nvSpPr>
        <p:spPr>
          <a:xfrm>
            <a:off x="375183" y="141059"/>
            <a:ext cx="10860084" cy="5637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Bagian 2-&gt; Uji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Fitur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-&gt;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 </a:t>
            </a:r>
            <a:r>
              <a:rPr lang="en-US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Bantuan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42A09E-1832-1206-66B5-7452B78CC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600" y="1997001"/>
            <a:ext cx="7772799" cy="2863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6739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FE8A0-199C-AC7B-02BF-41128E08C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053AE31-3EDF-4F32-4EC9-01311725019D}"/>
              </a:ext>
            </a:extLst>
          </p:cNvPr>
          <p:cNvSpPr txBox="1">
            <a:spLocks/>
          </p:cNvSpPr>
          <p:nvPr/>
        </p:nvSpPr>
        <p:spPr>
          <a:xfrm>
            <a:off x="375183" y="141059"/>
            <a:ext cx="10860084" cy="5637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Bagian 2-&gt; Uji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Fitur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-&gt;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Pengambilan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E20960-CCBD-8E39-FCC4-128078159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958" y="2485976"/>
            <a:ext cx="10370083" cy="1886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7008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F4E8D-B114-7998-5D39-CD4B0F5DA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FA7292B-9695-C369-A4D6-8E9B6382C29A}"/>
              </a:ext>
            </a:extLst>
          </p:cNvPr>
          <p:cNvSpPr txBox="1">
            <a:spLocks/>
          </p:cNvSpPr>
          <p:nvPr/>
        </p:nvSpPr>
        <p:spPr>
          <a:xfrm>
            <a:off x="375183" y="141059"/>
            <a:ext cx="10860084" cy="5637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Bagian 2-&gt; Uji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Fitur</a:t>
            </a:r>
            <a:r>
              <a:rPr lang="id-ID" sz="3200" b="1" dirty="0">
                <a:latin typeface="Arial" panose="020B0604020202020204" pitchFamily="34" charset="0"/>
                <a:cs typeface="Arial" panose="020B0604020202020204" pitchFamily="34" charset="0"/>
              </a:rPr>
              <a:t>-&gt;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Penyaluran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FD5A40-68C1-0194-5DDB-9D700DCCA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506" y="2539954"/>
            <a:ext cx="10458988" cy="1778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2775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EE6D36D-F422-82EF-6988-A61F738909ED}"/>
              </a:ext>
            </a:extLst>
          </p:cNvPr>
          <p:cNvSpPr txBox="1">
            <a:spLocks/>
          </p:cNvSpPr>
          <p:nvPr/>
        </p:nvSpPr>
        <p:spPr>
          <a:xfrm>
            <a:off x="375183" y="141059"/>
            <a:ext cx="10860084" cy="5637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>
                <a:latin typeface="Arial" panose="020B0604020202020204" pitchFamily="34" charset="0"/>
                <a:cs typeface="Arial" panose="020B0604020202020204" pitchFamily="34" charset="0"/>
              </a:rPr>
              <a:t>Bagian 2-&gt; Version Control</a:t>
            </a:r>
            <a:r>
              <a:rPr lang="id-ID" sz="3200" b="1">
                <a:latin typeface="Arial" panose="020B0604020202020204" pitchFamily="34" charset="0"/>
                <a:cs typeface="Arial" panose="020B0604020202020204" pitchFamily="34" charset="0"/>
              </a:rPr>
              <a:t> -&gt;</a:t>
            </a:r>
            <a:r>
              <a:rPr lang="en-US" sz="3200" b="1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r>
              <a:rPr lang="en-US" sz="3200" b="1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C118270-B486-1FCE-6487-EB8AF7643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845388"/>
            <a:ext cx="9655834" cy="549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4006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450740" y="2103437"/>
            <a:ext cx="7927174" cy="1325563"/>
          </a:xfrm>
        </p:spPr>
        <p:txBody>
          <a:bodyPr/>
          <a:lstStyle/>
          <a:p>
            <a:r>
              <a:rPr lang="en-US" b="1">
                <a:solidFill>
                  <a:srgbClr val="FF0000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Sekian</a:t>
            </a:r>
            <a:r>
              <a:rPr lang="id-ID" b="1">
                <a:solidFill>
                  <a:srgbClr val="FF0000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 </a:t>
            </a:r>
            <a:r>
              <a:rPr lang="id-ID" b="1" dirty="0">
                <a:solidFill>
                  <a:srgbClr val="FF0000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&amp; Terima kasih</a:t>
            </a:r>
            <a:endParaRPr lang="en-US" b="1" dirty="0">
              <a:solidFill>
                <a:srgbClr val="FF0000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E4A8DA86-8761-5A08-7EBC-1EC6D12F101A}"/>
              </a:ext>
            </a:extLst>
          </p:cNvPr>
          <p:cNvSpPr txBox="1">
            <a:spLocks/>
          </p:cNvSpPr>
          <p:nvPr/>
        </p:nvSpPr>
        <p:spPr>
          <a:xfrm>
            <a:off x="3450740" y="3875780"/>
            <a:ext cx="7927174" cy="7545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(Untuk Fungsionalitas akan dilakukan Simulasi Secara Langsung)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Terima Kasih Pesan Poster - Gambar gratis di Pixabay">
            <a:extLst>
              <a:ext uri="{FF2B5EF4-FFF2-40B4-BE49-F238E27FC236}">
                <a16:creationId xmlns:a16="http://schemas.microsoft.com/office/drawing/2014/main" id="{6115C298-0861-CF72-249E-BD27F7225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38" y="853194"/>
            <a:ext cx="3214032" cy="478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447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2016</TotalTime>
  <Words>572</Words>
  <Application>Microsoft Office PowerPoint</Application>
  <PresentationFormat>Widescreen</PresentationFormat>
  <Paragraphs>88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Arial</vt:lpstr>
      <vt:lpstr>Arial Rounded MT Bold</vt:lpstr>
      <vt:lpstr>Calibri</vt:lpstr>
      <vt:lpstr>Calibri Light</vt:lpstr>
      <vt:lpstr>Google Sans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Bagian 1-&gt; Kegiatan selama PKL</vt:lpstr>
      <vt:lpstr>Bagian 1-&gt; Kegiatan selama PKL</vt:lpstr>
      <vt:lpstr>Bagian 1-&gt; Kegiatan selama PKL</vt:lpstr>
      <vt:lpstr>Bagian 1-&gt; Kegiatan selama PKL</vt:lpstr>
      <vt:lpstr>PowerPoint Presentation</vt:lpstr>
      <vt:lpstr>PowerPoint Presentation</vt:lpstr>
      <vt:lpstr>Bagian 2-&gt; Jadwal Pembuatan Aplikasi</vt:lpstr>
      <vt:lpstr>PowerPoint Presentation</vt:lpstr>
      <vt:lpstr>PowerPoint Presentation</vt:lpstr>
      <vt:lpstr>PowerPoint Presentation</vt:lpstr>
      <vt:lpstr>Bagian 2-&gt;  DESAIN PROTOTYPE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Sekian &amp; Terima kasih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Aplikasi Pendataan Penduduk Di DisCapil Kota Langsa</dc:title>
  <dc:creator>MITA</dc:creator>
  <cp:lastModifiedBy>Windows 11</cp:lastModifiedBy>
  <cp:revision>36</cp:revision>
  <dcterms:created xsi:type="dcterms:W3CDTF">2024-01-17T03:37:04Z</dcterms:created>
  <dcterms:modified xsi:type="dcterms:W3CDTF">2026-06-08T14:27:26Z</dcterms:modified>
</cp:coreProperties>
</file>